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FE071A-1B03-458B-89AB-C7B9FBA208C6}">
          <p14:sldIdLst>
            <p14:sldId id="256"/>
            <p14:sldId id="257"/>
            <p14:sldId id="258"/>
            <p14:sldId id="261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3"/>
    <a:srgbClr val="315F52"/>
    <a:srgbClr val="1826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315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052811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Student Performance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Data Analysis</a:t>
            </a:r>
            <a:endParaRPr lang="en-US" dirty="0">
              <a:solidFill>
                <a:schemeClr val="bg1"/>
              </a:solidFill>
            </a:endParaRPr>
          </a:p>
          <a:p>
            <a:pPr>
              <a:defRPr sz="4200" b="1">
                <a:solidFill>
                  <a:srgbClr val="FFFFFF"/>
                </a:solidFill>
              </a:defRPr>
            </a:pPr>
            <a:endParaRPr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CDD8E4"/>
                </a:solidFill>
              </a:defRPr>
            </a:pPr>
            <a:r>
              <a:rPr dirty="0">
                <a:solidFill>
                  <a:schemeClr val="bg1"/>
                </a:solidFill>
              </a:rPr>
              <a:t>Exploring factors associated with academic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66102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Python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dirty="0">
                <a:solidFill>
                  <a:schemeClr val="bg1"/>
                </a:solidFill>
              </a:rPr>
              <a:t>Pandas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dirty="0">
                <a:solidFill>
                  <a:schemeClr val="bg1"/>
                </a:solidFill>
              </a:rPr>
              <a:t> NumPy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dirty="0">
                <a:solidFill>
                  <a:schemeClr val="bg1"/>
                </a:solidFill>
              </a:rPr>
              <a:t>Matplotlib</a:t>
            </a:r>
            <a:r>
              <a:rPr lang="en-US" dirty="0">
                <a:solidFill>
                  <a:schemeClr val="bg1"/>
                </a:solidFill>
              </a:rPr>
              <a:t>, Seaborn, Scikit-learn, and some s</a:t>
            </a:r>
            <a:r>
              <a:rPr dirty="0">
                <a:solidFill>
                  <a:schemeClr val="bg1"/>
                </a:solidFill>
              </a:rPr>
              <a:t>tatistics</a:t>
            </a:r>
          </a:p>
          <a:p>
            <a:pPr>
              <a:defRPr sz="1400">
                <a:solidFill>
                  <a:srgbClr val="CDD8E4"/>
                </a:solidFill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solidFill>
                  <a:srgbClr val="CDD8E4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Public dataset: </a:t>
            </a:r>
            <a:r>
              <a:rPr b="1" dirty="0">
                <a:solidFill>
                  <a:schemeClr val="bg1"/>
                </a:solidFill>
              </a:rPr>
              <a:t>UCI Student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01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dirty="0">
                <a:solidFill>
                  <a:srgbClr val="315F52"/>
                </a:solidFill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dirty="0"/>
              <a:t>Investigate factors associated with students’ final mathematics grades</a:t>
            </a:r>
            <a:r>
              <a:rPr lang="en-US" dirty="0"/>
              <a:t> (G3)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dirty="0"/>
              <a:t>Understand the structure and quality of the dataset before analysis.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dirty="0"/>
              <a:t>Use visualization to identify patterns and formulate hypotheses.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dirty="0"/>
              <a:t>Use appropriate statistical measures to quantify selected relationships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8392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dirty="0">
                <a:solidFill>
                  <a:srgbClr val="315F52"/>
                </a:solidFill>
              </a:rPr>
              <a:t>Dataset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116574"/>
            <a:ext cx="105156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dirty="0"/>
              <a:t>Information from pd.Dataframe.info() :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dirty="0"/>
              <a:t>The dataset has 395 records and 33 variables in total.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dirty="0"/>
              <a:t>The dataset contains non-null values and is semicolon separated.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dirty="0"/>
              <a:t>The dataset contains 5 discrete features, 11 ordinal categorical features, 12 binary categorical columns, and 5 nominal features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r>
              <a:rPr lang="en-US" dirty="0"/>
              <a:t>The dataset contains no negative or fractional values.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sz="2000" b="1" dirty="0">
                <a:solidFill>
                  <a:srgbClr val="315F52"/>
                </a:solidFill>
              </a:rPr>
              <a:t>Visual analysis: 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The dataset contains demographic, family, academic, social and behavioral variables.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G1 and G2 represent earlier grades; G3 represents the final mathematics grade.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The analysis uses the mathematics file: student-mat.csv.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Findings describe this dataset and should not be generalized directly to other student populations.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4559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dirty="0">
                <a:solidFill>
                  <a:srgbClr val="315F52"/>
                </a:solidFill>
              </a:rPr>
              <a:t>Final Grade Distribution (G3)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1414924"/>
            <a:ext cx="5212080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b="1" i="1" dirty="0"/>
              <a:t>The distribution of the G3 feature is not a normal distribution due to its irregular shape.</a:t>
            </a:r>
            <a:endParaRPr lang="en-US" sz="1600" dirty="0"/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endParaRPr lang="en-US" sz="1600" dirty="0"/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sz="1600" dirty="0"/>
              <a:t>The distribution contains a pronounced concentration at G3 = 0.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sz="1600" dirty="0"/>
              <a:t>Most observations are concentrated around the middle of the grading scale</a:t>
            </a:r>
            <a:r>
              <a:rPr lang="en-US" sz="1600" dirty="0"/>
              <a:t> (9-14)</a:t>
            </a:r>
            <a:r>
              <a:rPr sz="1600" dirty="0"/>
              <a:t>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sz="1600" dirty="0"/>
              <a:t>Very high grades are </a:t>
            </a:r>
            <a:r>
              <a:rPr lang="en-US" sz="1600" dirty="0"/>
              <a:t>rather rare.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Zero was treated as a valid observed grade rather than automatically as an outlier.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C95F36-C305-3034-E030-95364A5B3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162455"/>
            <a:ext cx="5671585" cy="4533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FED2-870E-A60A-BA4A-09FCD9250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6E1BE6-4165-18F8-1690-93F1A83C639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CEBED-3F2A-9201-905F-0A8D39E6E5D8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86E67-9C71-2A5E-D4D2-9BD89CAC27CD}"/>
              </a:ext>
            </a:extLst>
          </p:cNvPr>
          <p:cNvSpPr txBox="1"/>
          <p:nvPr/>
        </p:nvSpPr>
        <p:spPr>
          <a:xfrm>
            <a:off x="1005840" y="1748872"/>
            <a:ext cx="509016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 err="1">
                <a:solidFill>
                  <a:srgbClr val="315F52"/>
                </a:solidFill>
              </a:rPr>
              <a:t>studytime</a:t>
            </a:r>
            <a:r>
              <a:rPr lang="en-US" sz="2000" b="1" i="1" dirty="0">
                <a:solidFill>
                  <a:srgbClr val="315F52"/>
                </a:solidFill>
              </a:rPr>
              <a:t> versus G3</a:t>
            </a: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i="1" dirty="0"/>
              <a:t>Statistical result:</a:t>
            </a: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i="1" dirty="0"/>
              <a:t>Spearman </a:t>
            </a:r>
            <a:r>
              <a:rPr lang="el-GR" i="1" dirty="0"/>
              <a:t>ρ = +0.105170</a:t>
            </a:r>
            <a:endParaRPr lang="en-US" i="1" dirty="0">
              <a:solidFill>
                <a:srgbClr val="1E293B"/>
              </a:solidFill>
            </a:endParaRP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endParaRPr lang="en-US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Median G3 generally increased across study-time categories.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distributions overlapped considerably.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highest study-time category contained only 27 students.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observed association was weak.</a:t>
            </a:r>
            <a:endParaRPr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2B75E5-E7AC-5E9E-474C-A20D28ECA37B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A201D8-81BB-0237-669F-252DAB42C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008" y="1425205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8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483C-8569-1864-C85D-029C5059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C95BD3-B97C-4BF9-9E75-8BD8C9997E1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0E800-9444-B865-B640-A6FFB33138AD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6A446C-ADCF-7F16-6FDF-D38E5F9AF16D}"/>
              </a:ext>
            </a:extLst>
          </p:cNvPr>
          <p:cNvSpPr txBox="1"/>
          <p:nvPr/>
        </p:nvSpPr>
        <p:spPr>
          <a:xfrm>
            <a:off x="1005840" y="1748872"/>
            <a:ext cx="509016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>
                <a:solidFill>
                  <a:srgbClr val="315F52"/>
                </a:solidFill>
              </a:rPr>
              <a:t>failures versus G3</a:t>
            </a: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i="1" dirty="0"/>
              <a:t>Statistical result:</a:t>
            </a: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i="1" dirty="0"/>
              <a:t>Spearman </a:t>
            </a:r>
            <a:r>
              <a:rPr lang="el-GR" i="1" dirty="0"/>
              <a:t>ρ = </a:t>
            </a:r>
            <a:r>
              <a:rPr lang="en-US" i="1" dirty="0"/>
              <a:t>-0.3.61224</a:t>
            </a:r>
            <a:endParaRPr lang="en-US" i="1" dirty="0">
              <a:solidFill>
                <a:srgbClr val="1E293B"/>
              </a:solidFill>
            </a:endParaRP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endParaRPr lang="en-US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Approximate medians: 11 -&gt; 9 -&gt; 8.5 -&gt; 7 as failures increased.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relationship was visibly monotonic.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This was the strongest monotonic association among the variables quantified.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3 category represents three or more previous failures.</a:t>
            </a:r>
            <a:endParaRPr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D34BC-F00B-9723-EF8C-AB49564F1572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E11D3-C654-3153-0597-A018B49E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98" y="1425205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9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7F92-629B-1709-8EE3-C1203599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237038-F582-87A6-8C8A-726BCD11130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CF405-2CF9-31D0-AE45-75286F92F7E2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C4440-FB6B-037E-C461-8FE70CEBD1A9}"/>
              </a:ext>
            </a:extLst>
          </p:cNvPr>
          <p:cNvSpPr txBox="1"/>
          <p:nvPr/>
        </p:nvSpPr>
        <p:spPr>
          <a:xfrm>
            <a:off x="1005840" y="1748872"/>
            <a:ext cx="5090160" cy="4470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>
                <a:solidFill>
                  <a:srgbClr val="315F52"/>
                </a:solidFill>
              </a:rPr>
              <a:t>absences versus G3</a:t>
            </a: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i="1" dirty="0"/>
              <a:t>Statistical result:</a:t>
            </a: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i="1" dirty="0"/>
              <a:t>Spearman </a:t>
            </a:r>
            <a:r>
              <a:rPr lang="el-GR" i="1" dirty="0"/>
              <a:t>ρ = </a:t>
            </a:r>
            <a:r>
              <a:rPr lang="en-US" i="1" dirty="0"/>
              <a:t>+0.017731</a:t>
            </a:r>
            <a:endParaRPr lang="en-US" i="1" dirty="0">
              <a:solidFill>
                <a:srgbClr val="1E293B"/>
              </a:solidFill>
            </a:endParaRPr>
          </a:p>
          <a:p>
            <a:pPr lvl="1"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endParaRPr lang="en-US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scatter plot visually suggested a possible weak negative trend.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Spearman result indicated essentially no monotonic association.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G3 varied substantially among students with similar absence counts.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Note: This should be given more focus for clearer interpretations.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100" dirty="0"/>
              <a:t>Gave me quite the headache 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879E95-863C-6D44-6C4C-6139536DFA34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23C70-CA24-9792-BCBD-2DD1F89A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98" y="1423028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2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0843-34DB-04FE-F1C7-CD9902DB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2514DF-E23A-E5E3-D741-82E3101D947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F5C8C-FA45-DFCF-A53C-F78ABBC53014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B6B0BF-1BCD-2ACB-8BDC-6C37B7DC768B}"/>
              </a:ext>
            </a:extLst>
          </p:cNvPr>
          <p:cNvSpPr txBox="1"/>
          <p:nvPr/>
        </p:nvSpPr>
        <p:spPr>
          <a:xfrm>
            <a:off x="1005840" y="1748872"/>
            <a:ext cx="509016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>
                <a:solidFill>
                  <a:srgbClr val="315F52"/>
                </a:solidFill>
              </a:rPr>
              <a:t>school versus G3</a:t>
            </a:r>
            <a:endParaRPr lang="en-US" sz="1600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GP: 349 students, MS: 46 students.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Approximate medians: GP = 11, MS = 10.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GP distribution showed greater spread.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two distributions substantially overlapped.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Due to imbalance in data, visual interpretation is limited.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D6DF-D856-48EF-C335-D6E075B37688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67DA99-8330-479C-42A9-D1C8115FB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98" y="1423028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408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161A-641D-2C75-7D61-1898D82C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5CC114-188E-CE34-7DF3-BF3E56CDCD4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DEB21-1C8A-27DD-3005-BA246A21CD53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780961-5FB1-589D-AA1F-346AADC6E5E6}"/>
              </a:ext>
            </a:extLst>
          </p:cNvPr>
          <p:cNvSpPr txBox="1"/>
          <p:nvPr/>
        </p:nvSpPr>
        <p:spPr>
          <a:xfrm>
            <a:off x="1005840" y="1748872"/>
            <a:ext cx="509016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>
                <a:solidFill>
                  <a:srgbClr val="315F52"/>
                </a:solidFill>
              </a:rPr>
              <a:t>sex versus G3</a:t>
            </a:r>
            <a:endParaRPr lang="en-US" sz="1600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Female: 208 students, Male: 187 students.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Approximate medians: Female = 10, Male = 11.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groups had similar IQRs and broadly similar spread.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distributions were overlapped substantially.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600" dirty="0"/>
              <a:t>The result is descriptive and does not establish an effect that results to a cause.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endParaRPr lang="en-US" dirty="0"/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1000" dirty="0"/>
              <a:t>I personally see no reason as to why Gender will affect academic performance 😅</a:t>
            </a:r>
            <a:endParaRPr 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F5530D-C380-EF6B-40C3-DB9341C5AC1E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3CA30-869B-F49B-03D4-83EA657B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98" y="1427790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5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0E17-43F4-8D73-7DC9-A9669163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116237-408E-D4B3-519D-265B2FDC9D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B05F0-57D4-866D-D64A-AC0408E49344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853926-AF3F-C105-7C51-72DAF1EBD8F4}"/>
              </a:ext>
            </a:extLst>
          </p:cNvPr>
          <p:cNvSpPr txBox="1"/>
          <p:nvPr/>
        </p:nvSpPr>
        <p:spPr>
          <a:xfrm>
            <a:off x="1005840" y="1748872"/>
            <a:ext cx="5090160" cy="27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>
                <a:solidFill>
                  <a:srgbClr val="315F52"/>
                </a:solidFill>
              </a:rPr>
              <a:t>address versus G3</a:t>
            </a:r>
            <a:endParaRPr lang="en-US" sz="1600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Rural: 88 students, Urban: 307 students.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Approximate medians: Rural = 10, Urban = 11.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The IQRs were quite similar.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The urban distribution appeared shifted toward higher grades.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Residential location may depend on many other associated circumstances, so no factual interpretation was assigned.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42543B-4B1F-611A-6AD7-404F2C0A06D6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42999-FA18-E5F6-105C-5A0113FAA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98" y="1423027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0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12D8-B1AD-32B7-6994-AB65807A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91A044-E137-04A1-CBB0-DCC96F33824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11ECD-179D-0F59-BA76-A036A7B81BBF}"/>
              </a:ext>
            </a:extLst>
          </p:cNvPr>
          <p:cNvSpPr txBox="1"/>
          <p:nvPr/>
        </p:nvSpPr>
        <p:spPr>
          <a:xfrm>
            <a:off x="594360" y="384048"/>
            <a:ext cx="48027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Visual And Statistical Summary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2DDC1-0DB3-D0CB-5A1F-8E98D7F7775E}"/>
              </a:ext>
            </a:extLst>
          </p:cNvPr>
          <p:cNvSpPr txBox="1"/>
          <p:nvPr/>
        </p:nvSpPr>
        <p:spPr>
          <a:xfrm>
            <a:off x="1005840" y="1748872"/>
            <a:ext cx="5090160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</a:defRPr>
            </a:pPr>
            <a:r>
              <a:rPr lang="en-US" sz="2000" b="1" i="1" dirty="0">
                <a:solidFill>
                  <a:srgbClr val="315F52"/>
                </a:solidFill>
              </a:rPr>
              <a:t>higher versus G3</a:t>
            </a:r>
            <a:endParaRPr lang="en-US" sz="1600" b="1" i="1" dirty="0">
              <a:solidFill>
                <a:srgbClr val="315F52"/>
              </a:solidFill>
            </a:endParaRP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500" dirty="0"/>
              <a:t>Yes:  375 students, No: 20 students.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Approximate medians: Yes = 11, No = 8.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The distributions showed a more pronounced separation than several earlier comparisons.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The No category is very small, so its distribution should be interpreted cautiously.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600" dirty="0"/>
              <a:t>The observed association does not establish that educational aspirations cause differences in performance.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F7CA6-28F0-002A-06AE-7EB8DD6A6319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73F73-9F53-A881-D916-CBBD27CD4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98" y="1423027"/>
            <a:ext cx="54864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3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9116-2AAE-D939-AE51-E56D5D77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F074B4-E9E0-6175-517C-0D771493698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770420-666E-C0C1-6773-43F531B29EF9}"/>
              </a:ext>
            </a:extLst>
          </p:cNvPr>
          <p:cNvSpPr/>
          <p:nvPr/>
        </p:nvSpPr>
        <p:spPr>
          <a:xfrm>
            <a:off x="710119" y="1342417"/>
            <a:ext cx="3282800" cy="1877438"/>
          </a:xfrm>
          <a:prstGeom prst="roundRect">
            <a:avLst/>
          </a:prstGeom>
          <a:solidFill>
            <a:srgbClr val="315F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82893-0367-BA9D-2465-2E1CCAFD5E9C}"/>
              </a:ext>
            </a:extLst>
          </p:cNvPr>
          <p:cNvSpPr txBox="1"/>
          <p:nvPr/>
        </p:nvSpPr>
        <p:spPr>
          <a:xfrm>
            <a:off x="594360" y="384048"/>
            <a:ext cx="33985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lang="en-US" dirty="0">
                <a:solidFill>
                  <a:srgbClr val="315F52"/>
                </a:solidFill>
              </a:rPr>
              <a:t>Comparative Findings</a:t>
            </a:r>
            <a:endParaRPr dirty="0">
              <a:solidFill>
                <a:srgbClr val="315F5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41FA7-2ADF-AF14-BB6F-8A08BDACDA3E}"/>
              </a:ext>
            </a:extLst>
          </p:cNvPr>
          <p:cNvSpPr txBox="1"/>
          <p:nvPr/>
        </p:nvSpPr>
        <p:spPr>
          <a:xfrm>
            <a:off x="822960" y="1508760"/>
            <a:ext cx="3169959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b="1" i="1" dirty="0">
                <a:solidFill>
                  <a:srgbClr val="F6F6F3"/>
                </a:solidFill>
              </a:rPr>
              <a:t>Previous Failures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endParaRPr lang="en-US" b="1" i="1" dirty="0">
              <a:solidFill>
                <a:srgbClr val="F6F6F3"/>
              </a:solidFill>
            </a:endParaRP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l-GR" dirty="0">
                <a:solidFill>
                  <a:srgbClr val="F6F6F3"/>
                </a:solidFill>
              </a:rPr>
              <a:t>ρ</a:t>
            </a:r>
            <a:r>
              <a:rPr lang="en-US" dirty="0">
                <a:solidFill>
                  <a:srgbClr val="F6F6F3"/>
                </a:solidFill>
              </a:rPr>
              <a:t> = -0.361224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sz="1600" i="1" dirty="0">
                <a:solidFill>
                  <a:srgbClr val="F6F6F3"/>
                </a:solidFill>
              </a:rPr>
              <a:t>Strongest association examined.</a:t>
            </a:r>
            <a:r>
              <a:rPr lang="en-US" dirty="0">
                <a:solidFill>
                  <a:srgbClr val="F6F6F3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1E9AEB-635A-4FE6-1E08-7A362223A829}"/>
              </a:ext>
            </a:extLst>
          </p:cNvPr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259EF9-55D8-44DA-6851-E61A75F1C9C0}"/>
              </a:ext>
            </a:extLst>
          </p:cNvPr>
          <p:cNvSpPr/>
          <p:nvPr/>
        </p:nvSpPr>
        <p:spPr>
          <a:xfrm>
            <a:off x="4606847" y="1342417"/>
            <a:ext cx="3282800" cy="1877438"/>
          </a:xfrm>
          <a:prstGeom prst="roundRect">
            <a:avLst/>
          </a:prstGeom>
          <a:solidFill>
            <a:srgbClr val="315F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1C0F7-3C3F-127E-4CFE-B60C6D812D3D}"/>
              </a:ext>
            </a:extLst>
          </p:cNvPr>
          <p:cNvSpPr txBox="1"/>
          <p:nvPr/>
        </p:nvSpPr>
        <p:spPr>
          <a:xfrm>
            <a:off x="4815879" y="1525946"/>
            <a:ext cx="3169959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b="1" i="1" dirty="0">
                <a:solidFill>
                  <a:srgbClr val="F6F6F3"/>
                </a:solidFill>
              </a:rPr>
              <a:t>Study Time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endParaRPr lang="en-US" b="1" i="1" dirty="0">
              <a:solidFill>
                <a:srgbClr val="F6F6F3"/>
              </a:solidFill>
            </a:endParaRP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l-GR" dirty="0">
                <a:solidFill>
                  <a:srgbClr val="F6F6F3"/>
                </a:solidFill>
              </a:rPr>
              <a:t>ρ</a:t>
            </a:r>
            <a:r>
              <a:rPr lang="en-US" dirty="0">
                <a:solidFill>
                  <a:srgbClr val="F6F6F3"/>
                </a:solidFill>
              </a:rPr>
              <a:t> = +0.105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sz="1600" i="1" dirty="0">
                <a:solidFill>
                  <a:srgbClr val="F6F6F3"/>
                </a:solidFill>
              </a:rPr>
              <a:t>Weak positive association.</a:t>
            </a:r>
            <a:endParaRPr lang="en-US" dirty="0">
              <a:solidFill>
                <a:srgbClr val="F6F6F3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ADFE5D-3651-C3FC-9A9D-F13EA894246B}"/>
              </a:ext>
            </a:extLst>
          </p:cNvPr>
          <p:cNvSpPr/>
          <p:nvPr/>
        </p:nvSpPr>
        <p:spPr>
          <a:xfrm>
            <a:off x="8503787" y="1310282"/>
            <a:ext cx="3282800" cy="1877438"/>
          </a:xfrm>
          <a:prstGeom prst="roundRect">
            <a:avLst/>
          </a:prstGeom>
          <a:solidFill>
            <a:srgbClr val="315F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FD389-5872-F095-78EF-631673847819}"/>
              </a:ext>
            </a:extLst>
          </p:cNvPr>
          <p:cNvSpPr txBox="1"/>
          <p:nvPr/>
        </p:nvSpPr>
        <p:spPr>
          <a:xfrm>
            <a:off x="8715983" y="1506490"/>
            <a:ext cx="2765899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b="1" i="1" dirty="0">
                <a:solidFill>
                  <a:srgbClr val="F6F6F3"/>
                </a:solidFill>
              </a:rPr>
              <a:t>Absences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endParaRPr lang="en-US" b="1" i="1" dirty="0">
              <a:solidFill>
                <a:srgbClr val="F6F6F3"/>
              </a:solidFill>
            </a:endParaRP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l-GR" dirty="0">
                <a:solidFill>
                  <a:srgbClr val="F6F6F3"/>
                </a:solidFill>
              </a:rPr>
              <a:t>ρ</a:t>
            </a:r>
            <a:r>
              <a:rPr lang="en-US" dirty="0">
                <a:solidFill>
                  <a:srgbClr val="F6F6F3"/>
                </a:solidFill>
              </a:rPr>
              <a:t> = +0.018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lang="en-US" i="1" dirty="0">
                <a:solidFill>
                  <a:srgbClr val="F6F6F3"/>
                </a:solidFill>
              </a:rPr>
              <a:t>Essentially no association.</a:t>
            </a:r>
            <a:endParaRPr lang="en-US" dirty="0">
              <a:solidFill>
                <a:srgbClr val="F6F6F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B9547-334D-0EB7-9168-CC3E9853DF18}"/>
              </a:ext>
            </a:extLst>
          </p:cNvPr>
          <p:cNvSpPr txBox="1"/>
          <p:nvPr/>
        </p:nvSpPr>
        <p:spPr>
          <a:xfrm>
            <a:off x="710119" y="3667327"/>
            <a:ext cx="11076468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lang="en-US" dirty="0"/>
              <a:t>School, sex and address showed relatively modest median differences with substantial overlap.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rPr lang="en-US" dirty="0"/>
              <a:t>The higher education intention comparison showed a larger visible difference, but its groups were highly imbalanced.</a:t>
            </a:r>
          </a:p>
        </p:txBody>
      </p:sp>
    </p:spTree>
    <p:extLst>
      <p:ext uri="{BB962C8B-B14F-4D97-AF65-F5344CB8AC3E}">
        <p14:creationId xmlns:p14="http://schemas.microsoft.com/office/powerpoint/2010/main" val="313650516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8A3ED8-F92B-0390-5379-4140FE2BC9A6}"/>
              </a:ext>
            </a:extLst>
          </p:cNvPr>
          <p:cNvSpPr/>
          <p:nvPr/>
        </p:nvSpPr>
        <p:spPr>
          <a:xfrm>
            <a:off x="914400" y="1186774"/>
            <a:ext cx="9160686" cy="1401903"/>
          </a:xfrm>
          <a:prstGeom prst="roundRect">
            <a:avLst/>
          </a:prstGeom>
          <a:solidFill>
            <a:srgbClr val="315F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06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3A"/>
                </a:solidFill>
              </a:defRPr>
            </a:pPr>
            <a:r>
              <a:rPr dirty="0">
                <a:solidFill>
                  <a:srgbClr val="315F52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386" y="1457205"/>
            <a:ext cx="12795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63A"/>
                </a:solidFill>
              </a:defRPr>
            </a:pPr>
            <a:r>
              <a:rPr sz="1600" i="1" dirty="0">
                <a:solidFill>
                  <a:srgbClr val="F6F6F3"/>
                </a:solidFill>
              </a:rPr>
              <a:t>Main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386" y="1832110"/>
            <a:ext cx="89277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sz="1400" i="1" dirty="0">
                <a:solidFill>
                  <a:srgbClr val="F6F6F3"/>
                </a:solidFill>
              </a:rPr>
              <a:t>Among the variables examined, </a:t>
            </a:r>
            <a:r>
              <a:rPr sz="1400" b="1" i="1" u="sng" dirty="0">
                <a:solidFill>
                  <a:srgbClr val="F6F6F3"/>
                </a:solidFill>
              </a:rPr>
              <a:t>previous failures</a:t>
            </a:r>
            <a:r>
              <a:rPr sz="1400" i="1" dirty="0">
                <a:solidFill>
                  <a:srgbClr val="F6F6F3"/>
                </a:solidFill>
              </a:rPr>
              <a:t> showed the strongest observed monotonic association with final grade.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241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Study time showed a weak positive association with G3.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Absence count showed essentially no monotonic association with G3.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Several categorical comparisons showed </a:t>
            </a:r>
            <a:r>
              <a:rPr lang="en-US" dirty="0"/>
              <a:t>considerable</a:t>
            </a:r>
            <a:r>
              <a:rPr dirty="0"/>
              <a:t> differences with substantial overlap.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The analysis </a:t>
            </a:r>
            <a:r>
              <a:rPr lang="en-US" dirty="0"/>
              <a:t>put together</a:t>
            </a:r>
            <a:r>
              <a:rPr dirty="0"/>
              <a:t> the importance of combining visualization, statistical measurement and </a:t>
            </a:r>
            <a:r>
              <a:rPr lang="en-US" dirty="0"/>
              <a:t>analytical</a:t>
            </a:r>
            <a:r>
              <a:rPr dirty="0"/>
              <a:t> reasoning.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All findings should be understood as associations</a:t>
            </a:r>
            <a:r>
              <a:rPr lang="en-US" dirty="0"/>
              <a:t>/relations</a:t>
            </a:r>
            <a:r>
              <a:rPr dirty="0"/>
              <a:t> within this particular dataset.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5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35929" y="1965960"/>
            <a:ext cx="238110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>
                <a:solidFill>
                  <a:srgbClr val="F6F6F3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5557" y="3154680"/>
            <a:ext cx="429040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DD8E4"/>
                </a:solidFill>
              </a:defRPr>
            </a:pPr>
            <a:r>
              <a:rPr dirty="0">
                <a:solidFill>
                  <a:srgbClr val="F6F6F3"/>
                </a:solidFill>
              </a:rPr>
              <a:t>Student Performance Data Analysis</a:t>
            </a:r>
          </a:p>
          <a:p>
            <a:pPr algn="ctr">
              <a:defRPr sz="1400">
                <a:solidFill>
                  <a:srgbClr val="B4C3D4"/>
                </a:solidFill>
              </a:defRPr>
            </a:pPr>
            <a:r>
              <a:rPr dirty="0">
                <a:solidFill>
                  <a:srgbClr val="F6F6F3"/>
                </a:solidFill>
              </a:rPr>
              <a:t>Exploring factors associated with academic performance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851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Royyan Bello</cp:lastModifiedBy>
  <cp:revision>7</cp:revision>
  <dcterms:created xsi:type="dcterms:W3CDTF">2013-01-27T09:14:16Z</dcterms:created>
  <dcterms:modified xsi:type="dcterms:W3CDTF">2026-09-26T21:23:42Z</dcterms:modified>
  <cp:category/>
</cp:coreProperties>
</file>